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7DBDA9-A02F-4B37-84B3-E2AAD22828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02BEB2-1149-4654-BF53-5E8331250B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69B3C2-42D1-4906-8CC0-251580A570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B76D32-ED9C-4AA4-A71F-76FAEFB959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D9B634-FB69-4D27-9524-80483ADA0B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979C01-B4F8-4228-A1D2-E2722BE9EF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8A20BB-2AB8-49A3-BF34-214AB17A3F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B99942-A88D-422C-9CF6-3502D91D27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E988E7-816C-4F20-AB26-D18375553E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7CC6E8-281C-4D8E-800C-74948DB808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A222DD-41D0-4E19-989F-7EE1CD2668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1371600" y="1097280"/>
            <a:ext cx="9448200" cy="466308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905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8640" tIns="548640" rIns="5486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</a:t>
            </a:r>
            <a:endParaRPr lang="es-CL" sz="14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algn="ctr" defTabSz="457200">
              <a:lnSpc>
                <a:spcPct val="100000"/>
              </a:lnSpc>
              <a:spcBef>
                <a:spcPts val="1400"/>
              </a:spcBef>
              <a:spcAft>
                <a:spcPts val="2401"/>
              </a:spcAft>
            </a:pPr>
            <a:r>
              <a:rPr lang="en-US" sz="25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Evaluación 1: Caso de Negocio Tienda 'Top 9'</a:t>
            </a:r>
            <a:br>
              <a:rPr sz="2500"/>
            </a:br>
            <a:r>
              <a:rPr lang="en-US" sz="25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Implementación de Soluciones en PL/SQL </a:t>
            </a:r>
            <a:endParaRPr lang="es-CL" sz="25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4D399"/>
                </a:solidFill>
                <a:effectLst/>
                <a:uFillTx/>
                <a:latin typeface="Arial"/>
              </a:rPr>
              <a:t>Integrantes: Cristóbal Loncón • Joaquín Oyarzún • Felipe Barra • Renata Orellana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algn="ctr" defTabSz="457200">
              <a:lnSpc>
                <a:spcPct val="100000"/>
              </a:lnSpc>
              <a:spcBef>
                <a:spcPts val="1800"/>
              </a:spcBef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Docente: Carlos Orellana  |  Fecha: 01-09-2026</a:t>
            </a:r>
            <a:endParaRPr lang="es-CL" sz="13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Contexto de la Tienda 'Top 9'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65" name="Rounded Rectangle 3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Descripción del Local</a:t>
            </a:r>
            <a:endParaRPr lang="es-CL" sz="17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Ubicación: Centro de Puerto Montt.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Giro: Venta de juegos de mesa y centro para torneos y eventos de pequeño formato.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Objetivo del Proyecto: Automatizar los procesos administrativos y de atención mediante programación en PL/SQL dentro de la base de datos Oracle.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Beneficio: Encapsular la lógica de negocio para procesar los datos directamente en el servidor y reducir errores operativos.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66" name="Rounded Rectangle 4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Actores del Sistema</a:t>
            </a:r>
            <a:endParaRPr lang="es-CL" sz="17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Clientes: </a:t>
            </a: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Datos personales, compras, sugerencias e inscripción a eventos.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Trabajadores: </a:t>
            </a: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Cajeros, bodegueros y gerentes que operan el local.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Local Top 9: </a:t>
            </a: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Control de stock, arriendo de mesas y organización de eventos.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Distribuidores: </a:t>
            </a: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Proveedores de productos, marcas y editoriales.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Problemáticas Operativas a Resolver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69" name="Rounded Rectangle 3"/>
          <p:cNvSpPr/>
          <p:nvPr/>
        </p:nvSpPr>
        <p:spPr>
          <a:xfrm>
            <a:off x="731520" y="146304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1. Búsqueda de Productos en Caja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El cajero necesita ver los datos completos de un juego (nombre, precio, stock, categoría, marca) en una sola consulta, sin buscar tabla por tabla.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6217920" y="146304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2. Clasificación para Marketing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El área de difusión necesita agrupar productos según categorías de edad fijas para enviar promociones dirigidas.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731520" y="402336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3. Control de Asistencia a Torneos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El encargado de eventos necesita obtener la lista de jugadores inscritos para los torneos de una fecha determinada.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6217920" y="402336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4. Manejo de Errores e Inconsistencias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 requiere evitar que el programa se caiga si el cajero ingresa un ID inexistente o si un evento no tiene inscritos.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Solución 1: Ficha de Producto con RECORD (Corregido)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75" name="Rounded Rectangle 3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Uso de RECORD (tr_juego)</a:t>
            </a:r>
            <a:endParaRPr lang="es-CL" sz="17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Concepto: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Permite definir una estructura personalizada para almacenar datos de distintas tablas en una sola variable.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Corrección Aplicada: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 agregó `JOIN STOCK s ON p.id_producto = s.id_producto` para obtener la columna `s.cantidad_producto` correctamente.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Control de Errores: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Usa la excepción `NO_DATA_FOUND` si el código de producto ingresado por el cajero no existe en la base de datos.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Resultado: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Muestra un resumen inmediato del producto en consola para agilizar la atención en caja.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Bloque PL/SQL Corregido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DECLARE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TYPE tr_juego IS RECORD (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nombre VARCHAR2(100),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precio NUMBER,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stock NUMBER,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categoria VARCHAR2(50),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marca VARCHAR2(100)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);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v_juego tr_juego;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v_busqueda_id NUMBER := 1; 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BEGIN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SELECT p.nombre_producto, p.precio,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     s.cantidad_producto,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     c.nombre_categoria, m.nombre_marca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INTO v_juego.nombre, v_juego.precio, v_juego.stock,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   v_juego.categoria, v_juego.marca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FROM PRODUCTO p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JOIN STOCK s ON p.id_producto = s.id_producto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JOIN CATEGORIA c ON p.id_categoria = c.id_categoria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JOIN MARCA m ON p.id_marca = m.id_marca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WHERE p.id_producto = v_busqueda_id;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EXCEPTION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WHEN NO_DATA_FOUND THEN 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DBMS_OUTPUT.PUT_LINE('Juego no encontrado.');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END;</a:t>
            </a:r>
            <a:endParaRPr lang="es-CL" sz="9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Solución 2: Clasificación de Edades con VARRAY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79" name="Rounded Rectangle 3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Uso de VARRAY (t_edades)</a:t>
            </a:r>
            <a:endParaRPr lang="es-CL" sz="17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Concepto: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Un VARRAY almacena un número fijo de elementos del mismo tipo de datos de forma ordenada en memoria.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Aplicación: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 define `t_edades` con espacio para 5 categorías (Bebés, Niños, Preadolescentes, Adolescentes, Adultos).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Prueba de Excepción: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 fuerza un ciclo `FOR i IN 1..6` para intentar leer la posición 6 y capturar la excepción `SUBSCRIPT_OUTSIDE_LIMIT`.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Resultado: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Permite listar las categorías definidas y controlar el acceso fuera del límite del arreglo.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80" name="Rounded Rectangle 4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Bloque PL/SQL Planteado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DECLARE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TYPE t_edades IS VARRAY(5) OF VARCHAR2(30);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v_categorias_edad t_edades;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BEGIN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v_categorias_edad := t_edades(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'Bebés (0-3)', 'Niños (4-8)',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'Preadolescentes (9-12)',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'Adolescentes (13-17)', 'Adultos (18+)'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);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FOR i IN 1..6 LOOP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DBMS_OUTPUT.PUT_LINE(i || '. ' || v_categorias_edad(i));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END LOOP;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EXCEPTION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WHEN SUBSCRIPT_OUTSIDE_LIMIT THEN 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  DBMS_OUTPUT.PUT_LINE('¡Alarma! El código intentó...');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END;</a:t>
            </a:r>
            <a:endParaRPr lang="es-CL" sz="9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Solución 3: Reporte de Torneos con Cursores Explícitos (Corregido)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83" name="Rounded Rectangle 3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Cursores Anidados con Parámetros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Cursor Externo (c_torneos):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Filtra los torneos según la fecha de inicio (`TRUNC(fecha_inicio) = p_fecha`).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Cursor Interno (c_inscritos):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Recibe el ID del torneo actual (`p_id_evento`) y lista los clientes anotados.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Excepción Personalizada: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 define `ex_evento_vacio`. Si un torneo no tiene inscritos (`v_cantidad_inscritos = 0`), se ejecuta `RAISE ex_evento_vacio`.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• Resultado: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Imprime la lista de torneos del día y los jugadores inscritos en cada uno.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Bloque PL/SQL Corregido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CURSOR c_torneos (p_fecha DATE) IS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SELECT id_evento, nombre_evento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FROM EVENTO WHERE TRUNC(fecha_inicio) = p_fecha;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CURSOR c_inscritos (p_id_evento NUMBER) IS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SELECT c.primer_nombre, c.primer_apellido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FROM INSCRIPCION i JOIN CLIENTE c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ON i.id_cliente = c.id_cliente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WHERE i.id_evento = p_id_evento;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IF v_cantidad_inscritos = 0 THEN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  RAISE ex_evento_vacio;</a:t>
            </a:r>
            <a:br>
              <a:rPr sz="950"/>
            </a:br>
            <a:r>
              <a:rPr lang="en-US" sz="950" b="0" u="none" strike="noStrike">
                <a:solidFill>
                  <a:srgbClr val="FDE047"/>
                </a:solidFill>
                <a:effectLst/>
                <a:uFillTx/>
                <a:latin typeface="Courier New"/>
              </a:rPr>
              <a:t>END IF;</a:t>
            </a:r>
            <a:endParaRPr lang="es-CL" sz="9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Manejo e Integración de Excepciones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87" name="Rounded Rectangle 3"/>
          <p:cNvSpPr/>
          <p:nvPr/>
        </p:nvSpPr>
        <p:spPr>
          <a:xfrm>
            <a:off x="7315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Excepciones de Oracle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NO_DATA_FOUND: Se activa cuando una consulta SELECT INTO no retorna registros.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SUBSCRIPT_OUTSIDE_LIMIT: Se activa al intentar acceder a un índice fuera del tamaño del VARRAY.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TOO_MANY_ROWS: Se genera si una consulta retorna más de una fila cuando se esperaba solo una.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DUP_VAL_ON_INDEX: Ocurre al intentar insertar un valor duplicado en una columna única.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Excepciones Personalizadas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Definición: Creadas por el desarrollador para validar reglas de negocio específicas.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Declaración: Se declara una variable de tipo EXCEPTION en la sección DECLARE.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Invocación: Se ejecutan mediante la instrucción RAISE dentro de una condición IF.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Uso en el Proyecto: Notificar si un torneo programado no cuenta con jugadores inscritos.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Evaluación de Componentes en PL/SQL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91" name="Rounded Rectangle 3"/>
          <p:cNvSpPr/>
          <p:nvPr/>
        </p:nvSpPr>
        <p:spPr>
          <a:xfrm>
            <a:off x="731520" y="1463040"/>
            <a:ext cx="10728360" cy="105120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Procedimientos Almacenados  — 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Permiten ejecutar tareas o transformaciones de datos sin la obligación de retornar un valor directo.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92" name="Rounded Rectangle 4"/>
          <p:cNvSpPr/>
          <p:nvPr/>
        </p:nvSpPr>
        <p:spPr>
          <a:xfrm>
            <a:off x="731520" y="2651760"/>
            <a:ext cx="10728360" cy="105120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Funciones Almacenadas  — 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Diseñadas para realizar cálculos y retornar un valor específico (como el total de una venta).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731520" y="3840480"/>
            <a:ext cx="10728360" cy="105120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Paquetes (Packages)  — 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Organizan y agrupan procedimientos, funciones y tipos de datos relacionados en un solo módulo.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731520" y="5029200"/>
            <a:ext cx="10728360" cy="105120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95F8"/>
                </a:solidFill>
                <a:effectLst/>
                <a:uFillTx/>
                <a:latin typeface="Calibri"/>
              </a:rPr>
              <a:t>Triggers (Disparadores)  — 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 ejecutan automáticamente antes o después de eventos INSERT, UPDATE o DELETE para mantener la integridad.</a:t>
            </a:r>
            <a:endParaRPr lang="es-CL" sz="12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TALLER DE BASE DE DATOS - EVALUACIÓN 1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Recomendaciones de Mejora para el Proyecto</a:t>
            </a:r>
            <a:endParaRPr lang="es-CL" sz="2200" b="0" u="none" strike="noStrike">
              <a:solidFill>
                <a:srgbClr val="000000"/>
              </a:solidFill>
              <a:effectLst/>
              <a:uFillTx/>
              <a:latin typeface="FreeSans"/>
            </a:endParaRPr>
          </a:p>
        </p:txBody>
      </p:sp>
      <p:sp>
        <p:nvSpPr>
          <p:cNvPr id="97" name="Rounded Rectangle 3"/>
          <p:cNvSpPr/>
          <p:nvPr/>
        </p:nvSpPr>
        <p:spPr>
          <a:xfrm>
            <a:off x="731520" y="1463040"/>
            <a:ext cx="10728360" cy="1325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Triggers de Auditoría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Crear disparadores en las tablas de Ventas y Productos para guardar un historial de cambios de precios y cancelaciones.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731520" y="3017520"/>
            <a:ext cx="10728360" cy="1325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Tareas Programadas (DBMS_SCHEDULER)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Configurar ejecuciones automáticas en la base de datos para generar reportes nocturnos de stock o depurar eventos pasados.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731520" y="4572000"/>
            <a:ext cx="10728360" cy="132552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270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Paquete de Fidelización (PKG_FIDELIZACION)</a:t>
            </a:r>
            <a:endParaRPr lang="es-CL" sz="16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Agrupar la lógica de acumulación de puntos y descuentos para clientes en un paquete PL/SQL modular.</a:t>
            </a:r>
            <a:endParaRPr lang="es-CL" sz="12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ounded Rectangle 2"/>
          <p:cNvSpPr/>
          <p:nvPr/>
        </p:nvSpPr>
        <p:spPr>
          <a:xfrm>
            <a:off x="1371600" y="1097280"/>
            <a:ext cx="9448200" cy="4663080"/>
          </a:xfrm>
          <a:prstGeom prst="roundRect">
            <a:avLst>
              <a:gd name="adj" fmla="val 16667"/>
            </a:avLst>
          </a:prstGeom>
          <a:solidFill>
            <a:srgbClr val="202634"/>
          </a:solidFill>
          <a:ln w="19050">
            <a:solidFill>
              <a:srgbClr val="3895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8640" tIns="548640" rIns="5486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95F8"/>
                </a:solidFill>
                <a:effectLst/>
                <a:uFillTx/>
                <a:latin typeface="Arial"/>
              </a:rPr>
              <a:t>CONCLUSIÓN</a:t>
            </a:r>
            <a:endParaRPr lang="es-CL" sz="14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lang="en-US" sz="24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Resumen del Proyecto Top 9</a:t>
            </a:r>
            <a:endParaRPr lang="es-CL" sz="24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Las soluciones desarrolladas en PL/SQL han sido completamente validadas y corregidas según el esquema de la BD.</a:t>
            </a:r>
            <a:endParaRPr lang="es-CL" sz="13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El uso de RECORD simplifica la consulta de datos combinando las tablas PRODUCTO, STOCK, CATEGORIA y MARCA.</a:t>
            </a:r>
            <a:endParaRPr lang="es-CL" sz="13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La estructura VARRAY gestiona las listas de rangos de edad en memoria de forma segura y acotada.</a:t>
            </a:r>
            <a:endParaRPr lang="es-CL" sz="13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Los cursores explícitos parametrizados operan limpiamente sobre la columna fecha_inicio de la tabla EVENTO.</a:t>
            </a:r>
            <a:endParaRPr lang="es-CL" sz="135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  <a:p>
            <a:pPr algn="ctr" defTabSz="457200">
              <a:lnSpc>
                <a:spcPct val="100000"/>
              </a:lnSpc>
              <a:spcBef>
                <a:spcPts val="2401"/>
              </a:spcBef>
            </a:pPr>
            <a:r>
              <a:rPr lang="en-US" sz="1800" b="1" u="none" strike="noStrike">
                <a:solidFill>
                  <a:srgbClr val="34D399"/>
                </a:solidFill>
                <a:effectLst/>
                <a:uFillTx/>
                <a:latin typeface="Arial"/>
              </a:rPr>
              <a:t>Muchas Gracias</a:t>
            </a:r>
            <a:endParaRPr lang="es-CL" sz="1800" b="0" u="none" strike="noStrike">
              <a:solidFill>
                <a:srgbClr val="FFFFFF"/>
              </a:solidFill>
              <a:effectLst/>
              <a:uFillTx/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es-CL</dc:language>
  <cp:lastModifiedBy/>
  <dcterms:modified xsi:type="dcterms:W3CDTF">2026-09-15T23:30:08Z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