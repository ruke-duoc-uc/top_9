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202634"/>
          </a:solidFill>
          <a:ln w="1905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48640"/>
          <a:lstStyle/>
          <a:p>
            <a:pPr algn="ctr">
              <a:defRPr sz="1400" b="1">
                <a:solidFill>
                  <a:srgbClr val="3895F8"/>
                </a:solidFill>
                <a:latin typeface="Arial"/>
              </a:defRPr>
            </a:pPr>
            <a:r>
              <a:t>TALLER DE BASE DE DATOS</a:t>
            </a:r>
          </a:p>
          <a:p>
            <a:pPr algn="ctr">
              <a:spcBef>
                <a:spcPts val="1400"/>
              </a:spcBef>
              <a:spcAft>
                <a:spcPts val="2400"/>
              </a:spcAft>
              <a:defRPr sz="2500" b="1">
                <a:solidFill>
                  <a:srgbClr val="F1F5F9"/>
                </a:solidFill>
                <a:latin typeface="Arial"/>
              </a:defRPr>
            </a:pPr>
            <a:r>
              <a:t>Evaluación 1: Caso de Negocio Tienda 'Top 9'</a:t>
            </a:r>
            <a:br/>
            <a:r>
              <a:t>Implementación de Soluciones en PL/SQL (Corregido)</a:t>
            </a:r>
          </a:p>
          <a:p>
            <a:pPr algn="ctr">
              <a:defRPr sz="1500" b="1">
                <a:solidFill>
                  <a:srgbClr val="34D399"/>
                </a:solidFill>
                <a:latin typeface="Arial"/>
              </a:defRPr>
            </a:pPr>
            <a:r>
              <a:t>Integrantes: Cristóbal Loncón • Joaquín Oyarzún • Felipe Barra • Renata Orellana</a:t>
            </a:r>
          </a:p>
          <a:p>
            <a:pPr algn="ctr">
              <a:spcBef>
                <a:spcPts val="1800"/>
              </a:spcBef>
              <a:defRPr sz="1300">
                <a:solidFill>
                  <a:srgbClr val="CBD5E1"/>
                </a:solidFill>
                <a:latin typeface="Arial"/>
              </a:defRPr>
            </a:pPr>
            <a:r>
              <a:t>Docente: Carlos Orellana  |  Fecha: 01-09-2026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95F8"/>
                </a:solidFill>
                <a:latin typeface="Arial"/>
              </a:defRPr>
            </a:pPr>
            <a:r>
              <a:t>TALLER DE BASE DE DATOS - EVALUACIÓN 1</a:t>
            </a:r>
          </a:p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Contexto de la Tienda 'Top 9'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700" b="1">
                <a:solidFill>
                  <a:srgbClr val="3895F8"/>
                </a:solidFill>
              </a:defRPr>
            </a:pPr>
            <a:r>
              <a:t>Descripción del Local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</a:defRPr>
            </a:pPr>
            <a:r>
              <a:t>• Ubicación: Centro de Puerto Montt.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</a:defRPr>
            </a:pPr>
            <a:r>
              <a:t>• Giro: Venta de juegos de mesa y centro para torneos y eventos de pequeño formato.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</a:defRPr>
            </a:pPr>
            <a:r>
              <a:t>• Objetivo del Proyecto: Automatizar los procesos administrativos y de atención mediante programación en PL/SQL dentro de la base de datos Oracle.</a:t>
            </a:r>
          </a:p>
          <a:p>
            <a:pPr>
              <a:spcBef>
                <a:spcPts val="1000"/>
              </a:spcBef>
              <a:defRPr sz="1250">
                <a:solidFill>
                  <a:srgbClr val="CBD5E1"/>
                </a:solidFill>
              </a:defRPr>
            </a:pPr>
            <a:r>
              <a:t>• Beneficio: Encapsular la lógica de negocio para procesar los datos directamente en el servidor y reducir errores operativos.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Actores del Sistema</a:t>
            </a:r>
          </a:p>
          <a:p>
            <a:pPr>
              <a:spcBef>
                <a:spcPts val="1000"/>
              </a:spcBef>
              <a:defRPr b="1" sz="1250">
                <a:solidFill>
                  <a:srgbClr val="F1F5F9"/>
                </a:solidFill>
              </a:defRPr>
            </a:pPr>
            <a:r>
              <a:t>• Clientes: </a:t>
            </a:r>
            <a:r>
              <a:rPr b="0">
                <a:solidFill>
                  <a:srgbClr val="CBD5E1"/>
                </a:solidFill>
              </a:rPr>
              <a:t>Datos personales, compras, sugerencias e inscripción a eventos.</a:t>
            </a:r>
          </a:p>
          <a:p>
            <a:pPr>
              <a:spcBef>
                <a:spcPts val="1000"/>
              </a:spcBef>
              <a:defRPr b="1" sz="1250">
                <a:solidFill>
                  <a:srgbClr val="F1F5F9"/>
                </a:solidFill>
              </a:defRPr>
            </a:pPr>
            <a:r>
              <a:t>• Trabajadores: </a:t>
            </a:r>
            <a:r>
              <a:rPr b="0">
                <a:solidFill>
                  <a:srgbClr val="CBD5E1"/>
                </a:solidFill>
              </a:rPr>
              <a:t>Cajeros, bodegueros y gerentes que operan el local.</a:t>
            </a:r>
          </a:p>
          <a:p>
            <a:pPr>
              <a:spcBef>
                <a:spcPts val="1000"/>
              </a:spcBef>
              <a:defRPr b="1" sz="1250">
                <a:solidFill>
                  <a:srgbClr val="F1F5F9"/>
                </a:solidFill>
              </a:defRPr>
            </a:pPr>
            <a:r>
              <a:t>• Local Top 9: </a:t>
            </a:r>
            <a:r>
              <a:rPr b="0">
                <a:solidFill>
                  <a:srgbClr val="CBD5E1"/>
                </a:solidFill>
              </a:rPr>
              <a:t>Control de stock, arriendo de mesas y organización de eventos.</a:t>
            </a:r>
          </a:p>
          <a:p>
            <a:pPr>
              <a:spcBef>
                <a:spcPts val="1000"/>
              </a:spcBef>
              <a:defRPr b="1" sz="1250">
                <a:solidFill>
                  <a:srgbClr val="F1F5F9"/>
                </a:solidFill>
              </a:defRPr>
            </a:pPr>
            <a:r>
              <a:t>• Distribuidores: </a:t>
            </a:r>
            <a:r>
              <a:rPr b="0">
                <a:solidFill>
                  <a:srgbClr val="CBD5E1"/>
                </a:solidFill>
              </a:rPr>
              <a:t>Proveedores de productos, marcas y editoriales.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95F8"/>
                </a:solidFill>
                <a:latin typeface="Arial"/>
              </a:defRPr>
            </a:pPr>
            <a:r>
              <a:t>TALLER DE BASE DE DATOS - EVALUACIÓN 1</a:t>
            </a:r>
          </a:p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Problemáticas Operativas a Resolver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3895F8"/>
                </a:solidFill>
              </a:defRPr>
            </a:pPr>
            <a:r>
              <a:t>1. Búsqueda de Productos en Caja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El cajero necesita ver los datos completos de un juego (nombre, precio, stock, categoría, marca) en una sola consulta, sin buscar tabla por tabla.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228600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3895F8"/>
                </a:solidFill>
              </a:defRPr>
            </a:pPr>
            <a:r>
              <a:t>2. Clasificación para Marketing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El área de difusión necesita agrupar productos según categorías de edad fijas para enviar promociones dirigidas.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023360"/>
            <a:ext cx="5212080" cy="228600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3895F8"/>
                </a:solidFill>
              </a:defRPr>
            </a:pPr>
            <a:r>
              <a:t>3. Control de Asistencia a Torneos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El encargado de eventos necesita obtener la lista de jugadores inscritos para los torneos de una fecha determinada.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023360"/>
            <a:ext cx="5212080" cy="228600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500" b="1">
                <a:solidFill>
                  <a:srgbClr val="3895F8"/>
                </a:solidFill>
              </a:defRPr>
            </a:pPr>
            <a:r>
              <a:t>4. Manejo de Errores e Inconsistencias</a:t>
            </a:r>
          </a:p>
          <a:p>
            <a:pPr>
              <a:spcBef>
                <a:spcPts val="800"/>
              </a:spcBef>
              <a:defRPr sz="1200">
                <a:solidFill>
                  <a:srgbClr val="CBD5E1"/>
                </a:solidFill>
              </a:defRPr>
            </a:pPr>
            <a:r>
              <a:t>Se requiere evitar que el programa se caiga si el cajero ingresa un ID inexistente o si un evento no tiene inscritos.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95F8"/>
                </a:solidFill>
                <a:latin typeface="Arial"/>
              </a:defRPr>
            </a:pPr>
            <a:r>
              <a:t>TALLER DE BASE DE DATOS - EVALUACIÓN 1</a:t>
            </a:r>
          </a:p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Solución 1: Ficha de Producto con RECORD (Corregido)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700" b="1">
                <a:solidFill>
                  <a:srgbClr val="3895F8"/>
                </a:solidFill>
              </a:defRPr>
            </a:pPr>
            <a:r>
              <a:t>Uso de RECORD (tr_juego)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Concepto: </a:t>
            </a:r>
            <a:r>
              <a:rPr b="0">
                <a:solidFill>
                  <a:srgbClr val="CBD5E1"/>
                </a:solidFill>
              </a:rPr>
              <a:t>Permite definir una estructura personalizada para almacenar datos de distintas tablas en una sola variable.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Corrección Aplicada: </a:t>
            </a:r>
            <a:r>
              <a:rPr b="0">
                <a:solidFill>
                  <a:srgbClr val="CBD5E1"/>
                </a:solidFill>
              </a:rPr>
              <a:t>Se agregó `JOIN STOCK s ON p.id_producto = s.id_producto` para obtener la columna `s.cantidad_producto` correctamente.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Control de Errores: </a:t>
            </a:r>
            <a:r>
              <a:rPr b="0">
                <a:solidFill>
                  <a:srgbClr val="CBD5E1"/>
                </a:solidFill>
              </a:rPr>
              <a:t>Usa la excepción `NO_DATA_FOUND` si el código de producto ingresado por el cajero no existe en la base de datos.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Resultado: </a:t>
            </a:r>
            <a:r>
              <a:rPr b="0">
                <a:solidFill>
                  <a:srgbClr val="CBD5E1"/>
                </a:solidFill>
              </a:rPr>
              <a:t>Muestra un resumen inmediato del producto en consola para agilizar la atención en caja.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202634"/>
          </a:solidFill>
          <a:ln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Bloque PL/SQL Corregido</a:t>
            </a:r>
          </a:p>
          <a:p>
            <a:pPr>
              <a:spcBef>
                <a:spcPts val="800"/>
              </a:spcBef>
              <a:defRPr sz="950">
                <a:solidFill>
                  <a:srgbClr val="FDE047"/>
                </a:solidFill>
                <a:latin typeface="Courier New"/>
              </a:defRPr>
            </a:pPr>
            <a:r>
              <a:t>DECLARE</a:t>
            </a:r>
            <a:br/>
            <a:r>
              <a:t>  TYPE tr_juego IS RECORD (</a:t>
            </a:r>
            <a:br/>
            <a:r>
              <a:t>    nombre VARCHAR2(100),</a:t>
            </a:r>
            <a:br/>
            <a:r>
              <a:t>    precio NUMBER,</a:t>
            </a:r>
            <a:br/>
            <a:r>
              <a:t>    stock NUMBER,</a:t>
            </a:r>
            <a:br/>
            <a:r>
              <a:t>    categoria VARCHAR2(50),</a:t>
            </a:r>
            <a:br/>
            <a:r>
              <a:t>    marca VARCHAR2(100)</a:t>
            </a:r>
            <a:br/>
            <a:r>
              <a:t>  );</a:t>
            </a:r>
            <a:br/>
            <a:r>
              <a:t>  v_juego tr_juego;</a:t>
            </a:r>
            <a:br/>
            <a:r>
              <a:t>  v_busqueda_id NUMBER := 1; </a:t>
            </a:r>
            <a:br/>
            <a:r>
              <a:t>BEGIN</a:t>
            </a:r>
            <a:br/>
            <a:r>
              <a:t>  SELECT p.nombre_producto, p.precio,</a:t>
            </a:r>
            <a:br/>
            <a:r>
              <a:t>         s.cantidad_producto,</a:t>
            </a:r>
            <a:br/>
            <a:r>
              <a:t>         c.nombre_categoria, m.nombre_marca</a:t>
            </a:r>
            <a:br/>
            <a:r>
              <a:t>  INTO v_juego.nombre, v_juego.precio, v_juego.stock,</a:t>
            </a:r>
            <a:br/>
            <a:r>
              <a:t>       v_juego.categoria, v_juego.marca</a:t>
            </a:r>
            <a:br/>
            <a:r>
              <a:t>  FROM PRODUCTO p</a:t>
            </a:r>
            <a:br/>
            <a:r>
              <a:t>  JOIN STOCK s ON p.id_producto = s.id_producto</a:t>
            </a:r>
            <a:br/>
            <a:r>
              <a:t>  JOIN CATEGORIA c ON p.id_categoria = c.id_categoria</a:t>
            </a:r>
            <a:br/>
            <a:r>
              <a:t>  JOIN MARCA m ON p.id_marca = m.id_marca</a:t>
            </a:r>
            <a:br/>
            <a:r>
              <a:t>  WHERE p.id_producto = v_busqueda_id;</a:t>
            </a:r>
            <a:br/>
            <a:r>
              <a:t>EXCEPTION</a:t>
            </a:r>
            <a:br/>
            <a:r>
              <a:t>  WHEN NO_DATA_FOUND THEN </a:t>
            </a:r>
            <a:br/>
            <a:r>
              <a:t>    DBMS_OUTPUT.PUT_LINE('Juego no encontrado.');</a:t>
            </a:r>
            <a:br/>
            <a:r>
              <a:t>END;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95F8"/>
                </a:solidFill>
                <a:latin typeface="Arial"/>
              </a:defRPr>
            </a:pPr>
            <a:r>
              <a:t>TALLER DE BASE DE DATOS - EVALUACIÓN 1</a:t>
            </a:r>
          </a:p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Solución 2: Clasificación de Edades con VARRAY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700" b="1">
                <a:solidFill>
                  <a:srgbClr val="3895F8"/>
                </a:solidFill>
              </a:defRPr>
            </a:pPr>
            <a:r>
              <a:t>Uso de VARRAY (t_edades)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Concepto: </a:t>
            </a:r>
            <a:r>
              <a:rPr b="0">
                <a:solidFill>
                  <a:srgbClr val="CBD5E1"/>
                </a:solidFill>
              </a:rPr>
              <a:t>Un VARRAY almacena un número fijo de elementos del mismo tipo de datos de forma ordenada en memoria.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Aplicación: </a:t>
            </a:r>
            <a:r>
              <a:rPr b="0">
                <a:solidFill>
                  <a:srgbClr val="CBD5E1"/>
                </a:solidFill>
              </a:rPr>
              <a:t>Se define `t_edades` con espacio para 5 categorías (Bebés, Niños, Preadolescentes, Adolescentes, Adultos).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Prueba de Excepción: </a:t>
            </a:r>
            <a:r>
              <a:rPr b="0">
                <a:solidFill>
                  <a:srgbClr val="CBD5E1"/>
                </a:solidFill>
              </a:rPr>
              <a:t>Se fuerza un ciclo `FOR i IN 1..6` para intentar leer la posición 6 y capturar la excepción `SUBSCRIPT_OUTSIDE_LIMIT`.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Resultado: </a:t>
            </a:r>
            <a:r>
              <a:rPr b="0">
                <a:solidFill>
                  <a:srgbClr val="CBD5E1"/>
                </a:solidFill>
              </a:rPr>
              <a:t>Permite listar las categorías definidas y controlar el acceso fuera del límite del arreglo.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202634"/>
          </a:solidFill>
          <a:ln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Bloque PL/SQL Planteado</a:t>
            </a:r>
          </a:p>
          <a:p>
            <a:pPr>
              <a:spcBef>
                <a:spcPts val="800"/>
              </a:spcBef>
              <a:defRPr sz="950">
                <a:solidFill>
                  <a:srgbClr val="FDE047"/>
                </a:solidFill>
                <a:latin typeface="Courier New"/>
              </a:defRPr>
            </a:pPr>
            <a:r>
              <a:t>DECLARE</a:t>
            </a:r>
            <a:br/>
            <a:r>
              <a:t>  TYPE t_edades IS VARRAY(5) OF VARCHAR2(30);</a:t>
            </a:r>
            <a:br/>
            <a:r>
              <a:t>  v_categorias_edad t_edades;</a:t>
            </a:r>
            <a:br/>
            <a:r>
              <a:t>BEGIN</a:t>
            </a:r>
            <a:br/>
            <a:r>
              <a:t>  v_categorias_edad := t_edades(</a:t>
            </a:r>
            <a:br/>
            <a:r>
              <a:t>    'Bebés (0-3)', 'Niños (4-8)',</a:t>
            </a:r>
            <a:br/>
            <a:r>
              <a:t>    'Preadolescentes (9-12)',</a:t>
            </a:r>
            <a:br/>
            <a:r>
              <a:t>    'Adolescentes (13-17)', 'Adultos (18+)'</a:t>
            </a:r>
            <a:br/>
            <a:r>
              <a:t>  );</a:t>
            </a:r>
            <a:br/>
            <a:br/>
            <a:r>
              <a:t>  FOR i IN 1..6 LOOP</a:t>
            </a:r>
            <a:br/>
            <a:r>
              <a:t>    DBMS_OUTPUT.PUT_LINE(i || '. ' || v_categorias_edad(i));</a:t>
            </a:r>
            <a:br/>
            <a:r>
              <a:t>  END LOOP;</a:t>
            </a:r>
            <a:br/>
            <a:br/>
            <a:r>
              <a:t>EXCEPTION</a:t>
            </a:r>
            <a:br/>
            <a:r>
              <a:t>  WHEN SUBSCRIPT_OUTSIDE_LIMIT THEN </a:t>
            </a:r>
            <a:br/>
            <a:r>
              <a:t>    DBMS_OUTPUT.PUT_LINE('¡Alarma! El código intentó...');</a:t>
            </a:r>
            <a:br/>
            <a:r>
              <a:t>END;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95F8"/>
                </a:solidFill>
                <a:latin typeface="Arial"/>
              </a:defRPr>
            </a:pPr>
            <a:r>
              <a:t>TALLER DE BASE DE DATOS - EVALUACIÓN 1</a:t>
            </a:r>
          </a:p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Solución 3: Reporte de Torneos con Cursores Explícitos (Corregido)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600" b="1">
                <a:solidFill>
                  <a:srgbClr val="3895F8"/>
                </a:solidFill>
              </a:defRPr>
            </a:pPr>
            <a:r>
              <a:t>Cursores Anidados con Parámetros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Cursor Externo (c_torneos): </a:t>
            </a:r>
            <a:r>
              <a:rPr b="0">
                <a:solidFill>
                  <a:srgbClr val="CBD5E1"/>
                </a:solidFill>
              </a:rPr>
              <a:t>Filtra los torneos según la fecha de inicio (`TRUNC(fecha_inicio) = p_fecha`).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Cursor Interno (c_inscritos): </a:t>
            </a:r>
            <a:r>
              <a:rPr b="0">
                <a:solidFill>
                  <a:srgbClr val="CBD5E1"/>
                </a:solidFill>
              </a:rPr>
              <a:t>Recibe el ID del torneo actual (`p_id_evento`) y lista los clientes anotados.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Excepción Personalizada: </a:t>
            </a:r>
            <a:r>
              <a:rPr b="0">
                <a:solidFill>
                  <a:srgbClr val="CBD5E1"/>
                </a:solidFill>
              </a:rPr>
              <a:t>Se define `ex_evento_vacio`. Si un torneo no tiene inscritos (`v_cantidad_inscritos = 0`), se ejecuta `RAISE ex_evento_vacio`.</a:t>
            </a:r>
          </a:p>
          <a:p>
            <a:pPr>
              <a:spcBef>
                <a:spcPts val="800"/>
              </a:spcBef>
              <a:defRPr b="1" sz="1200">
                <a:solidFill>
                  <a:srgbClr val="F1F5F9"/>
                </a:solidFill>
              </a:defRPr>
            </a:pPr>
            <a:r>
              <a:t>• Resultado: </a:t>
            </a:r>
            <a:r>
              <a:rPr b="0">
                <a:solidFill>
                  <a:srgbClr val="CBD5E1"/>
                </a:solidFill>
              </a:rPr>
              <a:t>Imprime la lista de torneos del día y los jugadores inscritos en cada uno.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202634"/>
          </a:solidFill>
          <a:ln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Bloque PL/SQL Corregido</a:t>
            </a:r>
          </a:p>
          <a:p>
            <a:pPr>
              <a:spcBef>
                <a:spcPts val="800"/>
              </a:spcBef>
              <a:defRPr sz="950">
                <a:solidFill>
                  <a:srgbClr val="FDE047"/>
                </a:solidFill>
                <a:latin typeface="Courier New"/>
              </a:defRPr>
            </a:pPr>
            <a:r>
              <a:t>CURSOR c_torneos (p_fecha DATE) IS</a:t>
            </a:r>
            <a:br/>
            <a:r>
              <a:t>  SELECT id_evento, nombre_evento</a:t>
            </a:r>
            <a:br/>
            <a:r>
              <a:t>  FROM EVENTO WHERE TRUNC(fecha_inicio) = p_fecha;</a:t>
            </a:r>
            <a:br/>
            <a:br/>
            <a:r>
              <a:t>CURSOR c_inscritos (p_id_evento NUMBER) IS</a:t>
            </a:r>
            <a:br/>
            <a:r>
              <a:t>  SELECT c.primer_nombre, c.primer_apellido</a:t>
            </a:r>
            <a:br/>
            <a:r>
              <a:t>  FROM INSCRIPCION i JOIN CLIENTE c</a:t>
            </a:r>
            <a:br/>
            <a:r>
              <a:t>  ON i.id_cliente = c.id_cliente</a:t>
            </a:r>
            <a:br/>
            <a:r>
              <a:t>  WHERE i.id_evento = p_id_evento;</a:t>
            </a:r>
            <a:br/>
            <a:br/>
            <a:r>
              <a:t>IF v_cantidad_inscritos = 0 THEN</a:t>
            </a:r>
            <a:br/>
            <a:r>
              <a:t>  RAISE ex_evento_vacio;</a:t>
            </a:r>
            <a:br/>
            <a:r>
              <a:t>END IF;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95F8"/>
                </a:solidFill>
                <a:latin typeface="Arial"/>
              </a:defRPr>
            </a:pPr>
            <a:r>
              <a:t>TALLER DE BASE DE DATOS - EVALUACIÓN 1</a:t>
            </a:r>
          </a:p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Manejo e Integración de Excepciones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600" b="1">
                <a:solidFill>
                  <a:srgbClr val="3895F8"/>
                </a:solidFill>
              </a:defRPr>
            </a:pPr>
            <a:r>
              <a:t>Excepciones de Oracle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• NO_DATA_FOUND: Se activa cuando una consulta SELECT INTO no retorna registros.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• SUBSCRIPT_OUTSIDE_LIMIT: Se activa al intentar acceder a un índice fuera del tamaño del VARRAY.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• TOO_MANY_ROWS: Se genera si una consulta retorna más de una fila cuando se esperaba solo una.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• DUP_VAL_ON_INDEX: Ocurre al intentar insertar un valor duplicado en una columna única.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Excepciones Personalizadas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• Definición: Creadas por el desarrollador para validar reglas de negocio específicas.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• Declaración: Se declara una variable de tipo EXCEPTION en la sección DECLARE.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• Invocación: Se ejecutan mediante la instrucción RAISE dentro de una condición IF.</a:t>
            </a:r>
          </a:p>
          <a:p>
            <a:pPr>
              <a:spcBef>
                <a:spcPts val="1000"/>
              </a:spcBef>
              <a:defRPr sz="1200">
                <a:solidFill>
                  <a:srgbClr val="CBD5E1"/>
                </a:solidFill>
              </a:defRPr>
            </a:pPr>
            <a:r>
              <a:t>• Uso en el Proyecto: Notificar si un torneo programado no cuenta con jugadores inscritos.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95F8"/>
                </a:solidFill>
                <a:latin typeface="Arial"/>
              </a:defRPr>
            </a:pPr>
            <a:r>
              <a:t>TALLER DE BASE DE DATOS - EVALUACIÓN 1</a:t>
            </a:r>
          </a:p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Evaluación de Componentes en PL/SQL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105156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3895F8"/>
                </a:solidFill>
              </a:defRPr>
            </a:pPr>
            <a:r>
              <a:t>Procedimientos Almacenados  —  </a:t>
            </a:r>
            <a:r>
              <a:rPr b="0" sz="1200">
                <a:solidFill>
                  <a:srgbClr val="CBD5E1"/>
                </a:solidFill>
              </a:rPr>
              <a:t>Permiten ejecutar tareas o transformaciones de datos sin la obligación de retornar un valor directo.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10728655" cy="105156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3895F8"/>
                </a:solidFill>
              </a:defRPr>
            </a:pPr>
            <a:r>
              <a:t>Funciones Almacenadas  —  </a:t>
            </a:r>
            <a:r>
              <a:rPr b="0" sz="1200">
                <a:solidFill>
                  <a:srgbClr val="CBD5E1"/>
                </a:solidFill>
              </a:rPr>
              <a:t>Diseñadas para realizar cálculos y retornar un valor específico (como el total de una venta).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10728655" cy="105156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3895F8"/>
                </a:solidFill>
              </a:defRPr>
            </a:pPr>
            <a:r>
              <a:t>Paquetes (Packages)  —  </a:t>
            </a:r>
            <a:r>
              <a:rPr b="0" sz="1200">
                <a:solidFill>
                  <a:srgbClr val="CBD5E1"/>
                </a:solidFill>
              </a:rPr>
              <a:t>Organizan y agrupan procedimientos, funciones y tipos de datos relacionados en un solo módulo.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029200"/>
            <a:ext cx="10728655" cy="1051560"/>
          </a:xfrm>
          <a:prstGeom prst="roundRect">
            <a:avLst/>
          </a:prstGeom>
          <a:solidFill>
            <a:srgbClr val="2026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defRPr sz="1400" b="1">
                <a:solidFill>
                  <a:srgbClr val="3895F8"/>
                </a:solidFill>
              </a:defRPr>
            </a:pPr>
            <a:r>
              <a:t>Triggers (Disparadores)  —  </a:t>
            </a:r>
            <a:r>
              <a:rPr b="0" sz="1200">
                <a:solidFill>
                  <a:srgbClr val="CBD5E1"/>
                </a:solidFill>
              </a:rPr>
              <a:t>Se ejecutan automáticamente antes o después de eventos INSERT, UPDATE o DELETE para mantener la integridad.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95F8"/>
                </a:solidFill>
                <a:latin typeface="Arial"/>
              </a:defRPr>
            </a:pPr>
            <a:r>
              <a:t>TALLER DE BASE DE DATOS - EVALUACIÓN 1</a:t>
            </a:r>
          </a:p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Recomendaciones de Mejora para el Proyecto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132588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Triggers de Auditoría</a:t>
            </a:r>
          </a:p>
          <a:p>
            <a:pPr>
              <a:spcBef>
                <a:spcPts val="600"/>
              </a:spcBef>
              <a:defRPr sz="1250">
                <a:solidFill>
                  <a:srgbClr val="CBD5E1"/>
                </a:solidFill>
              </a:defRPr>
            </a:pPr>
            <a:r>
              <a:t>Crear disparadores en las tablas de Ventas y Productos para guardar un historial de cambios de precios y cancelaciones.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728655" cy="132588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Tareas Programadas (DBMS_SCHEDULER)</a:t>
            </a:r>
          </a:p>
          <a:p>
            <a:pPr>
              <a:spcBef>
                <a:spcPts val="600"/>
              </a:spcBef>
              <a:defRPr sz="1250">
                <a:solidFill>
                  <a:srgbClr val="CBD5E1"/>
                </a:solidFill>
              </a:defRPr>
            </a:pPr>
            <a:r>
              <a:t>Configurar ejecuciones automáticas en la base de datos para generar reportes nocturnos de stock o depurar eventos pasados.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728655" cy="1325880"/>
          </a:xfrm>
          <a:prstGeom prst="roundRect">
            <a:avLst/>
          </a:prstGeom>
          <a:solidFill>
            <a:srgbClr val="202634"/>
          </a:solidFill>
          <a:ln w="1270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Paquete de Fidelización (PKG_FIDELIZACION)</a:t>
            </a:r>
          </a:p>
          <a:p>
            <a:pPr>
              <a:spcBef>
                <a:spcPts val="600"/>
              </a:spcBef>
              <a:defRPr sz="1250">
                <a:solidFill>
                  <a:srgbClr val="CBD5E1"/>
                </a:solidFill>
              </a:defRPr>
            </a:pPr>
            <a:r>
              <a:t>Agrupar la lógica de acumulación de puntos y descuentos para clientes en un paquete PL/SQL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202634"/>
          </a:solidFill>
          <a:ln w="19050">
            <a:solidFill>
              <a:srgbClr val="3895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48640"/>
          <a:lstStyle/>
          <a:p>
            <a:pPr algn="ctr">
              <a:defRPr sz="1400" b="1">
                <a:solidFill>
                  <a:srgbClr val="3895F8"/>
                </a:solidFill>
                <a:latin typeface="Arial"/>
              </a:defRPr>
            </a:pPr>
            <a:r>
              <a:t>CONCLUSIÓN</a:t>
            </a:r>
          </a:p>
          <a:p>
            <a:pPr algn="ctr">
              <a:spcBef>
                <a:spcPts val="1000"/>
              </a:spcBef>
              <a:defRPr sz="2400" b="1">
                <a:solidFill>
                  <a:srgbClr val="F1F5F9"/>
                </a:solidFill>
                <a:latin typeface="Arial"/>
              </a:defRPr>
            </a:pPr>
            <a:r>
              <a:t>Resumen del Proyecto Top 9 (Corregido)</a:t>
            </a:r>
          </a:p>
          <a:p>
            <a:pPr>
              <a:spcBef>
                <a:spcPts val="1000"/>
              </a:spcBef>
              <a:defRPr sz="1350">
                <a:solidFill>
                  <a:srgbClr val="CBD5E1"/>
                </a:solidFill>
              </a:defRPr>
            </a:pPr>
            <a:r>
              <a:t>• Las soluciones desarrolladas en PL/SQL han sido completamente validadas y corregidas según el esquema de la BD.</a:t>
            </a:r>
          </a:p>
          <a:p>
            <a:pPr>
              <a:spcBef>
                <a:spcPts val="1000"/>
              </a:spcBef>
              <a:defRPr sz="1350">
                <a:solidFill>
                  <a:srgbClr val="CBD5E1"/>
                </a:solidFill>
              </a:defRPr>
            </a:pPr>
            <a:r>
              <a:t>• El uso de RECORD simplifica la consulta de datos combinando las tablas PRODUCTO, STOCK, CATEGORIA y MARCA.</a:t>
            </a:r>
          </a:p>
          <a:p>
            <a:pPr>
              <a:spcBef>
                <a:spcPts val="1000"/>
              </a:spcBef>
              <a:defRPr sz="1350">
                <a:solidFill>
                  <a:srgbClr val="CBD5E1"/>
                </a:solidFill>
              </a:defRPr>
            </a:pPr>
            <a:r>
              <a:t>• La estructura VARRAY gestiona las listas de rangos de edad en memoria de forma segura y acotada.</a:t>
            </a:r>
          </a:p>
          <a:p>
            <a:pPr>
              <a:spcBef>
                <a:spcPts val="1000"/>
              </a:spcBef>
              <a:defRPr sz="1350">
                <a:solidFill>
                  <a:srgbClr val="CBD5E1"/>
                </a:solidFill>
              </a:defRPr>
            </a:pPr>
            <a:r>
              <a:t>• Los cursores explícitos parametrizados operan limpiamente sobre la columna fecha_inicio de la tabla EVENTO.</a:t>
            </a:r>
          </a:p>
          <a:p>
            <a:pPr algn="ctr">
              <a:spcBef>
                <a:spcPts val="2400"/>
              </a:spcBef>
              <a:defRPr sz="1800" b="1">
                <a:solidFill>
                  <a:srgbClr val="34D399"/>
                </a:solidFill>
                <a:latin typeface="Arial"/>
              </a:defRPr>
            </a:pPr>
            <a:r>
              <a:t>Muchas 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